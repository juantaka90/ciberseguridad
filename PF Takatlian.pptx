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3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34808-F59C-ED3A-E117-7A73563EC475}" v="57" dt="2026-03-08T23:13:44.5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108C5-B9A1-470A-A14A-172B9713487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236BB6A-9CCF-42F2-91AA-5B32828C2D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-Nombre de la </a:t>
          </a:r>
          <a:r>
            <a:rPr lang="en-US" b="1" err="1"/>
            <a:t>muestra</a:t>
          </a:r>
          <a:r>
            <a:rPr lang="en-US" b="1"/>
            <a:t>.</a:t>
          </a:r>
          <a:endParaRPr lang="en-US"/>
        </a:p>
      </dgm:t>
    </dgm:pt>
    <dgm:pt modelId="{B6385F46-1A6F-401B-AA2A-376DCA8A5D69}" type="parTrans" cxnId="{97E425D2-78AF-479B-90E3-BE190F4E07EB}">
      <dgm:prSet/>
      <dgm:spPr/>
      <dgm:t>
        <a:bodyPr/>
        <a:lstStyle/>
        <a:p>
          <a:endParaRPr lang="en-US"/>
        </a:p>
      </dgm:t>
    </dgm:pt>
    <dgm:pt modelId="{C5472D73-8C1E-4275-82BD-C0385130F12F}" type="sibTrans" cxnId="{97E425D2-78AF-479B-90E3-BE190F4E07E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0B52843-2D2A-4729-AF1A-15CD459148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-</a:t>
          </a:r>
          <a:r>
            <a:rPr lang="en-US" b="1" err="1"/>
            <a:t>Fecha</a:t>
          </a:r>
          <a:r>
            <a:rPr lang="en-US" b="1"/>
            <a:t> del </a:t>
          </a:r>
          <a:r>
            <a:rPr lang="en-US" b="1" err="1"/>
            <a:t>analisis</a:t>
          </a:r>
          <a:r>
            <a:rPr lang="en-US" b="1"/>
            <a:t>.</a:t>
          </a:r>
          <a:endParaRPr lang="en-US"/>
        </a:p>
      </dgm:t>
    </dgm:pt>
    <dgm:pt modelId="{EC661095-D263-4AC3-8716-C50640E72772}" type="parTrans" cxnId="{8066537D-E95C-49F4-AE2F-B8040DE93BD6}">
      <dgm:prSet/>
      <dgm:spPr/>
      <dgm:t>
        <a:bodyPr/>
        <a:lstStyle/>
        <a:p>
          <a:endParaRPr lang="en-US"/>
        </a:p>
      </dgm:t>
    </dgm:pt>
    <dgm:pt modelId="{FE973692-5977-47D7-A247-043F238A4A60}" type="sibTrans" cxnId="{8066537D-E95C-49F4-AE2F-B8040DE93BD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6AFE9C-9A6B-49BA-9766-30A47DC05C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-OS </a:t>
          </a:r>
          <a:r>
            <a:rPr lang="en-US" b="1" err="1"/>
            <a:t>utilizado</a:t>
          </a:r>
          <a:r>
            <a:rPr lang="en-US" b="1"/>
            <a:t> para </a:t>
          </a:r>
          <a:r>
            <a:rPr lang="en-US" b="1" err="1"/>
            <a:t>el</a:t>
          </a:r>
          <a:r>
            <a:rPr lang="en-US" b="1"/>
            <a:t> </a:t>
          </a:r>
          <a:r>
            <a:rPr lang="en-US" b="1" err="1"/>
            <a:t>analisis</a:t>
          </a:r>
          <a:r>
            <a:rPr lang="en-US" b="1"/>
            <a:t>.</a:t>
          </a:r>
          <a:endParaRPr lang="en-US"/>
        </a:p>
      </dgm:t>
    </dgm:pt>
    <dgm:pt modelId="{5BE8E101-43DB-4569-916A-0D8B5E39A6F1}" type="parTrans" cxnId="{DD97AE2D-2531-48F0-A2F7-F2D1F2E466E4}">
      <dgm:prSet/>
      <dgm:spPr/>
      <dgm:t>
        <a:bodyPr/>
        <a:lstStyle/>
        <a:p>
          <a:endParaRPr lang="en-US"/>
        </a:p>
      </dgm:t>
    </dgm:pt>
    <dgm:pt modelId="{6121A885-5D54-4CE5-9E7E-2275B0C4BBC8}" type="sibTrans" cxnId="{DD97AE2D-2531-48F0-A2F7-F2D1F2E466E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93DA69-B8CE-4564-91CB-D9D99BB2D1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-Tipo de malware </a:t>
          </a:r>
          <a:r>
            <a:rPr lang="en-US" b="1" err="1"/>
            <a:t>identificado</a:t>
          </a:r>
          <a:r>
            <a:rPr lang="en-US" b="1"/>
            <a:t>.</a:t>
          </a:r>
          <a:endParaRPr lang="en-US"/>
        </a:p>
      </dgm:t>
    </dgm:pt>
    <dgm:pt modelId="{E059B6F6-5BF8-42B4-8C74-9BA13B7DE457}" type="parTrans" cxnId="{3200454C-5F08-451C-83E2-CA50AFBE1DBD}">
      <dgm:prSet/>
      <dgm:spPr/>
      <dgm:t>
        <a:bodyPr/>
        <a:lstStyle/>
        <a:p>
          <a:endParaRPr lang="en-US"/>
        </a:p>
      </dgm:t>
    </dgm:pt>
    <dgm:pt modelId="{E1159A6C-381C-4BA9-97F1-458581F042BA}" type="sibTrans" cxnId="{3200454C-5F08-451C-83E2-CA50AFBE1DBD}">
      <dgm:prSet/>
      <dgm:spPr/>
      <dgm:t>
        <a:bodyPr/>
        <a:lstStyle/>
        <a:p>
          <a:endParaRPr lang="en-US"/>
        </a:p>
      </dgm:t>
    </dgm:pt>
    <dgm:pt modelId="{18F8F801-18E1-4297-AB83-0304C906C684}" type="pres">
      <dgm:prSet presAssocID="{E08108C5-B9A1-470A-A14A-172B9713487F}" presName="root" presStyleCnt="0">
        <dgm:presLayoutVars>
          <dgm:dir/>
          <dgm:resizeHandles val="exact"/>
        </dgm:presLayoutVars>
      </dgm:prSet>
      <dgm:spPr/>
    </dgm:pt>
    <dgm:pt modelId="{BE68195B-FFAA-43EE-90A2-BF1BADEB7012}" type="pres">
      <dgm:prSet presAssocID="{E08108C5-B9A1-470A-A14A-172B9713487F}" presName="container" presStyleCnt="0">
        <dgm:presLayoutVars>
          <dgm:dir/>
          <dgm:resizeHandles val="exact"/>
        </dgm:presLayoutVars>
      </dgm:prSet>
      <dgm:spPr/>
    </dgm:pt>
    <dgm:pt modelId="{C9C42E3D-E1D8-455D-9E5F-A2F37A5C3CC3}" type="pres">
      <dgm:prSet presAssocID="{6236BB6A-9CCF-42F2-91AA-5B32828C2DA1}" presName="compNode" presStyleCnt="0"/>
      <dgm:spPr/>
    </dgm:pt>
    <dgm:pt modelId="{D52D0AC2-3336-4D2B-AC5A-3CF22F0A2948}" type="pres">
      <dgm:prSet presAssocID="{6236BB6A-9CCF-42F2-91AA-5B32828C2DA1}" presName="iconBgRect" presStyleLbl="bgShp" presStyleIdx="0" presStyleCnt="4"/>
      <dgm:spPr/>
    </dgm:pt>
    <dgm:pt modelId="{E2882D19-F060-46E7-8EED-1FCC4956CA99}" type="pres">
      <dgm:prSet presAssocID="{6236BB6A-9CCF-42F2-91AA-5B32828C2DA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thpaste"/>
        </a:ext>
      </dgm:extLst>
    </dgm:pt>
    <dgm:pt modelId="{791BE579-D1C0-420E-BD44-276144CF89BC}" type="pres">
      <dgm:prSet presAssocID="{6236BB6A-9CCF-42F2-91AA-5B32828C2DA1}" presName="spaceRect" presStyleCnt="0"/>
      <dgm:spPr/>
    </dgm:pt>
    <dgm:pt modelId="{41CFEFB2-ACB0-4482-A327-84E90D731071}" type="pres">
      <dgm:prSet presAssocID="{6236BB6A-9CCF-42F2-91AA-5B32828C2DA1}" presName="textRect" presStyleLbl="revTx" presStyleIdx="0" presStyleCnt="4">
        <dgm:presLayoutVars>
          <dgm:chMax val="1"/>
          <dgm:chPref val="1"/>
        </dgm:presLayoutVars>
      </dgm:prSet>
      <dgm:spPr/>
    </dgm:pt>
    <dgm:pt modelId="{D6DCC321-B999-4009-A527-54ADE7FD52B6}" type="pres">
      <dgm:prSet presAssocID="{C5472D73-8C1E-4275-82BD-C0385130F12F}" presName="sibTrans" presStyleLbl="sibTrans2D1" presStyleIdx="0" presStyleCnt="0"/>
      <dgm:spPr/>
    </dgm:pt>
    <dgm:pt modelId="{6E13B7AD-0113-4CAC-9883-579F48612FCE}" type="pres">
      <dgm:prSet presAssocID="{C0B52843-2D2A-4729-AF1A-15CD45914809}" presName="compNode" presStyleCnt="0"/>
      <dgm:spPr/>
    </dgm:pt>
    <dgm:pt modelId="{1EBC8B31-EB07-405F-8287-2E87AE8B6C55}" type="pres">
      <dgm:prSet presAssocID="{C0B52843-2D2A-4729-AF1A-15CD45914809}" presName="iconBgRect" presStyleLbl="bgShp" presStyleIdx="1" presStyleCnt="4"/>
      <dgm:spPr/>
    </dgm:pt>
    <dgm:pt modelId="{7AE84DF1-C2FA-473C-839B-B1E18AE77369}" type="pres">
      <dgm:prSet presAssocID="{C0B52843-2D2A-4729-AF1A-15CD4591480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804C297-414F-4509-87B7-772398D0F192}" type="pres">
      <dgm:prSet presAssocID="{C0B52843-2D2A-4729-AF1A-15CD45914809}" presName="spaceRect" presStyleCnt="0"/>
      <dgm:spPr/>
    </dgm:pt>
    <dgm:pt modelId="{7292E972-CED9-46AC-A9C9-94746FF85BB7}" type="pres">
      <dgm:prSet presAssocID="{C0B52843-2D2A-4729-AF1A-15CD45914809}" presName="textRect" presStyleLbl="revTx" presStyleIdx="1" presStyleCnt="4">
        <dgm:presLayoutVars>
          <dgm:chMax val="1"/>
          <dgm:chPref val="1"/>
        </dgm:presLayoutVars>
      </dgm:prSet>
      <dgm:spPr/>
    </dgm:pt>
    <dgm:pt modelId="{3D7B663F-A274-4E3A-B588-15B02B434D49}" type="pres">
      <dgm:prSet presAssocID="{FE973692-5977-47D7-A247-043F238A4A60}" presName="sibTrans" presStyleLbl="sibTrans2D1" presStyleIdx="0" presStyleCnt="0"/>
      <dgm:spPr/>
    </dgm:pt>
    <dgm:pt modelId="{FC1B990D-FF63-4D80-B51C-47AF8DCB7D41}" type="pres">
      <dgm:prSet presAssocID="{796AFE9C-9A6B-49BA-9766-30A47DC05CE8}" presName="compNode" presStyleCnt="0"/>
      <dgm:spPr/>
    </dgm:pt>
    <dgm:pt modelId="{F77A8B1F-F269-4FF2-A2D8-C28602C5F519}" type="pres">
      <dgm:prSet presAssocID="{796AFE9C-9A6B-49BA-9766-30A47DC05CE8}" presName="iconBgRect" presStyleLbl="bgShp" presStyleIdx="2" presStyleCnt="4"/>
      <dgm:spPr/>
    </dgm:pt>
    <dgm:pt modelId="{FEF60F23-AF66-4115-887F-35A99CBB34E3}" type="pres">
      <dgm:prSet presAssocID="{796AFE9C-9A6B-49BA-9766-30A47DC05CE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EAB30A6-159A-4C02-AFEC-EBAABF23C183}" type="pres">
      <dgm:prSet presAssocID="{796AFE9C-9A6B-49BA-9766-30A47DC05CE8}" presName="spaceRect" presStyleCnt="0"/>
      <dgm:spPr/>
    </dgm:pt>
    <dgm:pt modelId="{3B3EFB2D-B1CB-4196-925E-12E5D9DAF939}" type="pres">
      <dgm:prSet presAssocID="{796AFE9C-9A6B-49BA-9766-30A47DC05CE8}" presName="textRect" presStyleLbl="revTx" presStyleIdx="2" presStyleCnt="4">
        <dgm:presLayoutVars>
          <dgm:chMax val="1"/>
          <dgm:chPref val="1"/>
        </dgm:presLayoutVars>
      </dgm:prSet>
      <dgm:spPr/>
    </dgm:pt>
    <dgm:pt modelId="{35092B51-AD88-4F7A-AA52-F15E487C535D}" type="pres">
      <dgm:prSet presAssocID="{6121A885-5D54-4CE5-9E7E-2275B0C4BBC8}" presName="sibTrans" presStyleLbl="sibTrans2D1" presStyleIdx="0" presStyleCnt="0"/>
      <dgm:spPr/>
    </dgm:pt>
    <dgm:pt modelId="{274EB0B8-B828-4A00-8D5C-CCF4713B9D6E}" type="pres">
      <dgm:prSet presAssocID="{4793DA69-B8CE-4564-91CB-D9D99BB2D194}" presName="compNode" presStyleCnt="0"/>
      <dgm:spPr/>
    </dgm:pt>
    <dgm:pt modelId="{DFE93409-841B-4B7D-BC57-016C53777F3A}" type="pres">
      <dgm:prSet presAssocID="{4793DA69-B8CE-4564-91CB-D9D99BB2D194}" presName="iconBgRect" presStyleLbl="bgShp" presStyleIdx="3" presStyleCnt="4"/>
      <dgm:spPr/>
    </dgm:pt>
    <dgm:pt modelId="{82041BBB-BB2B-432A-B4C6-8398503A2244}" type="pres">
      <dgm:prSet presAssocID="{4793DA69-B8CE-4564-91CB-D9D99BB2D19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y bug"/>
        </a:ext>
      </dgm:extLst>
    </dgm:pt>
    <dgm:pt modelId="{9F2A9419-CAD2-412D-B056-5E2ACB4B1DF3}" type="pres">
      <dgm:prSet presAssocID="{4793DA69-B8CE-4564-91CB-D9D99BB2D194}" presName="spaceRect" presStyleCnt="0"/>
      <dgm:spPr/>
    </dgm:pt>
    <dgm:pt modelId="{082953DC-59D9-4CFA-84E4-7B6AA7508AE3}" type="pres">
      <dgm:prSet presAssocID="{4793DA69-B8CE-4564-91CB-D9D99BB2D19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7892826-A046-4E65-AC16-50E21E6672B1}" type="presOf" srcId="{6121A885-5D54-4CE5-9E7E-2275B0C4BBC8}" destId="{35092B51-AD88-4F7A-AA52-F15E487C535D}" srcOrd="0" destOrd="0" presId="urn:microsoft.com/office/officeart/2018/2/layout/IconCircleList"/>
    <dgm:cxn modelId="{DD97AE2D-2531-48F0-A2F7-F2D1F2E466E4}" srcId="{E08108C5-B9A1-470A-A14A-172B9713487F}" destId="{796AFE9C-9A6B-49BA-9766-30A47DC05CE8}" srcOrd="2" destOrd="0" parTransId="{5BE8E101-43DB-4569-916A-0D8B5E39A6F1}" sibTransId="{6121A885-5D54-4CE5-9E7E-2275B0C4BBC8}"/>
    <dgm:cxn modelId="{76246D3A-ED3C-4B05-BA4B-6B9753AAE697}" type="presOf" srcId="{796AFE9C-9A6B-49BA-9766-30A47DC05CE8}" destId="{3B3EFB2D-B1CB-4196-925E-12E5D9DAF939}" srcOrd="0" destOrd="0" presId="urn:microsoft.com/office/officeart/2018/2/layout/IconCircleList"/>
    <dgm:cxn modelId="{3200454C-5F08-451C-83E2-CA50AFBE1DBD}" srcId="{E08108C5-B9A1-470A-A14A-172B9713487F}" destId="{4793DA69-B8CE-4564-91CB-D9D99BB2D194}" srcOrd="3" destOrd="0" parTransId="{E059B6F6-5BF8-42B4-8C74-9BA13B7DE457}" sibTransId="{E1159A6C-381C-4BA9-97F1-458581F042BA}"/>
    <dgm:cxn modelId="{8066537D-E95C-49F4-AE2F-B8040DE93BD6}" srcId="{E08108C5-B9A1-470A-A14A-172B9713487F}" destId="{C0B52843-2D2A-4729-AF1A-15CD45914809}" srcOrd="1" destOrd="0" parTransId="{EC661095-D263-4AC3-8716-C50640E72772}" sibTransId="{FE973692-5977-47D7-A247-043F238A4A60}"/>
    <dgm:cxn modelId="{9A732B94-26FF-45A3-A21A-EA68D9AB3E11}" type="presOf" srcId="{FE973692-5977-47D7-A247-043F238A4A60}" destId="{3D7B663F-A274-4E3A-B588-15B02B434D49}" srcOrd="0" destOrd="0" presId="urn:microsoft.com/office/officeart/2018/2/layout/IconCircleList"/>
    <dgm:cxn modelId="{C9BA0BB8-5F7C-4323-9FF8-28061E216554}" type="presOf" srcId="{6236BB6A-9CCF-42F2-91AA-5B32828C2DA1}" destId="{41CFEFB2-ACB0-4482-A327-84E90D731071}" srcOrd="0" destOrd="0" presId="urn:microsoft.com/office/officeart/2018/2/layout/IconCircleList"/>
    <dgm:cxn modelId="{01523BBD-4BFB-4C67-9AD6-CFC8E21E3B51}" type="presOf" srcId="{4793DA69-B8CE-4564-91CB-D9D99BB2D194}" destId="{082953DC-59D9-4CFA-84E4-7B6AA7508AE3}" srcOrd="0" destOrd="0" presId="urn:microsoft.com/office/officeart/2018/2/layout/IconCircleList"/>
    <dgm:cxn modelId="{B0AEF1BE-D5A7-464F-AEB4-8580A17E6715}" type="presOf" srcId="{E08108C5-B9A1-470A-A14A-172B9713487F}" destId="{18F8F801-18E1-4297-AB83-0304C906C684}" srcOrd="0" destOrd="0" presId="urn:microsoft.com/office/officeart/2018/2/layout/IconCircleList"/>
    <dgm:cxn modelId="{97E425D2-78AF-479B-90E3-BE190F4E07EB}" srcId="{E08108C5-B9A1-470A-A14A-172B9713487F}" destId="{6236BB6A-9CCF-42F2-91AA-5B32828C2DA1}" srcOrd="0" destOrd="0" parTransId="{B6385F46-1A6F-401B-AA2A-376DCA8A5D69}" sibTransId="{C5472D73-8C1E-4275-82BD-C0385130F12F}"/>
    <dgm:cxn modelId="{A7458ED5-AF4F-49B5-A4BC-30F231D784CF}" type="presOf" srcId="{C5472D73-8C1E-4275-82BD-C0385130F12F}" destId="{D6DCC321-B999-4009-A527-54ADE7FD52B6}" srcOrd="0" destOrd="0" presId="urn:microsoft.com/office/officeart/2018/2/layout/IconCircleList"/>
    <dgm:cxn modelId="{C9E314E5-C2C2-450A-9483-C53B7A81676C}" type="presOf" srcId="{C0B52843-2D2A-4729-AF1A-15CD45914809}" destId="{7292E972-CED9-46AC-A9C9-94746FF85BB7}" srcOrd="0" destOrd="0" presId="urn:microsoft.com/office/officeart/2018/2/layout/IconCircleList"/>
    <dgm:cxn modelId="{B1A3E200-15B7-4F78-A4CE-6FC4F46521CB}" type="presParOf" srcId="{18F8F801-18E1-4297-AB83-0304C906C684}" destId="{BE68195B-FFAA-43EE-90A2-BF1BADEB7012}" srcOrd="0" destOrd="0" presId="urn:microsoft.com/office/officeart/2018/2/layout/IconCircleList"/>
    <dgm:cxn modelId="{6A36F254-1202-4B68-8C0B-4B457C1332F6}" type="presParOf" srcId="{BE68195B-FFAA-43EE-90A2-BF1BADEB7012}" destId="{C9C42E3D-E1D8-455D-9E5F-A2F37A5C3CC3}" srcOrd="0" destOrd="0" presId="urn:microsoft.com/office/officeart/2018/2/layout/IconCircleList"/>
    <dgm:cxn modelId="{FF99DD56-A377-422A-95BD-15AF5B4D13EB}" type="presParOf" srcId="{C9C42E3D-E1D8-455D-9E5F-A2F37A5C3CC3}" destId="{D52D0AC2-3336-4D2B-AC5A-3CF22F0A2948}" srcOrd="0" destOrd="0" presId="urn:microsoft.com/office/officeart/2018/2/layout/IconCircleList"/>
    <dgm:cxn modelId="{5ADE4FE4-B853-462E-BB63-EC2DBE3E8265}" type="presParOf" srcId="{C9C42E3D-E1D8-455D-9E5F-A2F37A5C3CC3}" destId="{E2882D19-F060-46E7-8EED-1FCC4956CA99}" srcOrd="1" destOrd="0" presId="urn:microsoft.com/office/officeart/2018/2/layout/IconCircleList"/>
    <dgm:cxn modelId="{042570B4-795F-4668-8059-8AABCC842F3E}" type="presParOf" srcId="{C9C42E3D-E1D8-455D-9E5F-A2F37A5C3CC3}" destId="{791BE579-D1C0-420E-BD44-276144CF89BC}" srcOrd="2" destOrd="0" presId="urn:microsoft.com/office/officeart/2018/2/layout/IconCircleList"/>
    <dgm:cxn modelId="{5CD7CA27-DC3A-4212-B1EC-132FA7F4B027}" type="presParOf" srcId="{C9C42E3D-E1D8-455D-9E5F-A2F37A5C3CC3}" destId="{41CFEFB2-ACB0-4482-A327-84E90D731071}" srcOrd="3" destOrd="0" presId="urn:microsoft.com/office/officeart/2018/2/layout/IconCircleList"/>
    <dgm:cxn modelId="{BC2547AE-1C63-424B-9676-AF15F8540C2E}" type="presParOf" srcId="{BE68195B-FFAA-43EE-90A2-BF1BADEB7012}" destId="{D6DCC321-B999-4009-A527-54ADE7FD52B6}" srcOrd="1" destOrd="0" presId="urn:microsoft.com/office/officeart/2018/2/layout/IconCircleList"/>
    <dgm:cxn modelId="{D12AD768-3FB0-4B2E-AF92-FC907202DDCF}" type="presParOf" srcId="{BE68195B-FFAA-43EE-90A2-BF1BADEB7012}" destId="{6E13B7AD-0113-4CAC-9883-579F48612FCE}" srcOrd="2" destOrd="0" presId="urn:microsoft.com/office/officeart/2018/2/layout/IconCircleList"/>
    <dgm:cxn modelId="{1BED1FB7-46B1-406B-BB80-F58592F8C41E}" type="presParOf" srcId="{6E13B7AD-0113-4CAC-9883-579F48612FCE}" destId="{1EBC8B31-EB07-405F-8287-2E87AE8B6C55}" srcOrd="0" destOrd="0" presId="urn:microsoft.com/office/officeart/2018/2/layout/IconCircleList"/>
    <dgm:cxn modelId="{24AA59B1-BAD3-4AD2-B3FA-52C413D89E00}" type="presParOf" srcId="{6E13B7AD-0113-4CAC-9883-579F48612FCE}" destId="{7AE84DF1-C2FA-473C-839B-B1E18AE77369}" srcOrd="1" destOrd="0" presId="urn:microsoft.com/office/officeart/2018/2/layout/IconCircleList"/>
    <dgm:cxn modelId="{33DD1615-A2D4-4579-A334-B3DB4835DEE5}" type="presParOf" srcId="{6E13B7AD-0113-4CAC-9883-579F48612FCE}" destId="{7804C297-414F-4509-87B7-772398D0F192}" srcOrd="2" destOrd="0" presId="urn:microsoft.com/office/officeart/2018/2/layout/IconCircleList"/>
    <dgm:cxn modelId="{6E2FAF7C-DCEB-4CF4-96CC-D953EC90F2C1}" type="presParOf" srcId="{6E13B7AD-0113-4CAC-9883-579F48612FCE}" destId="{7292E972-CED9-46AC-A9C9-94746FF85BB7}" srcOrd="3" destOrd="0" presId="urn:microsoft.com/office/officeart/2018/2/layout/IconCircleList"/>
    <dgm:cxn modelId="{0B8685D6-C8F6-4E37-AB85-714F7B48E27F}" type="presParOf" srcId="{BE68195B-FFAA-43EE-90A2-BF1BADEB7012}" destId="{3D7B663F-A274-4E3A-B588-15B02B434D49}" srcOrd="3" destOrd="0" presId="urn:microsoft.com/office/officeart/2018/2/layout/IconCircleList"/>
    <dgm:cxn modelId="{63AB34CD-9ABC-45A5-AC71-A072FD8366DC}" type="presParOf" srcId="{BE68195B-FFAA-43EE-90A2-BF1BADEB7012}" destId="{FC1B990D-FF63-4D80-B51C-47AF8DCB7D41}" srcOrd="4" destOrd="0" presId="urn:microsoft.com/office/officeart/2018/2/layout/IconCircleList"/>
    <dgm:cxn modelId="{D7D791E0-D19C-468C-B906-17607B456049}" type="presParOf" srcId="{FC1B990D-FF63-4D80-B51C-47AF8DCB7D41}" destId="{F77A8B1F-F269-4FF2-A2D8-C28602C5F519}" srcOrd="0" destOrd="0" presId="urn:microsoft.com/office/officeart/2018/2/layout/IconCircleList"/>
    <dgm:cxn modelId="{68E36038-2DB3-4404-9921-91E8114B53C4}" type="presParOf" srcId="{FC1B990D-FF63-4D80-B51C-47AF8DCB7D41}" destId="{FEF60F23-AF66-4115-887F-35A99CBB34E3}" srcOrd="1" destOrd="0" presId="urn:microsoft.com/office/officeart/2018/2/layout/IconCircleList"/>
    <dgm:cxn modelId="{32B3F251-0D2E-405A-861D-C4B4B5BAED8C}" type="presParOf" srcId="{FC1B990D-FF63-4D80-B51C-47AF8DCB7D41}" destId="{DEAB30A6-159A-4C02-AFEC-EBAABF23C183}" srcOrd="2" destOrd="0" presId="urn:microsoft.com/office/officeart/2018/2/layout/IconCircleList"/>
    <dgm:cxn modelId="{FB294971-BA47-44E0-A591-4EC66054E0D6}" type="presParOf" srcId="{FC1B990D-FF63-4D80-B51C-47AF8DCB7D41}" destId="{3B3EFB2D-B1CB-4196-925E-12E5D9DAF939}" srcOrd="3" destOrd="0" presId="urn:microsoft.com/office/officeart/2018/2/layout/IconCircleList"/>
    <dgm:cxn modelId="{DCEC7F82-127C-4DAC-AA6D-43B99D6E9B3D}" type="presParOf" srcId="{BE68195B-FFAA-43EE-90A2-BF1BADEB7012}" destId="{35092B51-AD88-4F7A-AA52-F15E487C535D}" srcOrd="5" destOrd="0" presId="urn:microsoft.com/office/officeart/2018/2/layout/IconCircleList"/>
    <dgm:cxn modelId="{26B73037-FA4C-4D76-AC36-63B475105F72}" type="presParOf" srcId="{BE68195B-FFAA-43EE-90A2-BF1BADEB7012}" destId="{274EB0B8-B828-4A00-8D5C-CCF4713B9D6E}" srcOrd="6" destOrd="0" presId="urn:microsoft.com/office/officeart/2018/2/layout/IconCircleList"/>
    <dgm:cxn modelId="{04BFDCA6-480B-44E3-AA3B-D5F5E238D937}" type="presParOf" srcId="{274EB0B8-B828-4A00-8D5C-CCF4713B9D6E}" destId="{DFE93409-841B-4B7D-BC57-016C53777F3A}" srcOrd="0" destOrd="0" presId="urn:microsoft.com/office/officeart/2018/2/layout/IconCircleList"/>
    <dgm:cxn modelId="{E4CCD2C8-21FD-4562-9CD8-E095BCD36A22}" type="presParOf" srcId="{274EB0B8-B828-4A00-8D5C-CCF4713B9D6E}" destId="{82041BBB-BB2B-432A-B4C6-8398503A2244}" srcOrd="1" destOrd="0" presId="urn:microsoft.com/office/officeart/2018/2/layout/IconCircleList"/>
    <dgm:cxn modelId="{6FC5F40A-3A31-4EAB-A4D6-F307EFF17693}" type="presParOf" srcId="{274EB0B8-B828-4A00-8D5C-CCF4713B9D6E}" destId="{9F2A9419-CAD2-412D-B056-5E2ACB4B1DF3}" srcOrd="2" destOrd="0" presId="urn:microsoft.com/office/officeart/2018/2/layout/IconCircleList"/>
    <dgm:cxn modelId="{BE15A18D-AB71-4814-B2DC-C535B1B99744}" type="presParOf" srcId="{274EB0B8-B828-4A00-8D5C-CCF4713B9D6E}" destId="{082953DC-59D9-4CFA-84E4-7B6AA7508AE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2D0AC2-3336-4D2B-AC5A-3CF22F0A2948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882D19-F060-46E7-8EED-1FCC4956CA99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FEFB2-ACB0-4482-A327-84E90D731071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-Nombre de la </a:t>
          </a:r>
          <a:r>
            <a:rPr lang="en-US" sz="1900" b="1" kern="1200" err="1"/>
            <a:t>muestra</a:t>
          </a:r>
          <a:r>
            <a:rPr lang="en-US" sz="1900" b="1" kern="1200"/>
            <a:t>.</a:t>
          </a:r>
          <a:endParaRPr lang="en-US" sz="1900" kern="1200"/>
        </a:p>
      </dsp:txBody>
      <dsp:txXfrm>
        <a:off x="1948202" y="159118"/>
        <a:ext cx="3233964" cy="1371985"/>
      </dsp:txXfrm>
    </dsp:sp>
    <dsp:sp modelId="{1EBC8B31-EB07-405F-8287-2E87AE8B6C55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E84DF1-C2FA-473C-839B-B1E18AE77369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2E972-CED9-46AC-A9C9-94746FF85BB7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-</a:t>
          </a:r>
          <a:r>
            <a:rPr lang="en-US" sz="1900" b="1" kern="1200" err="1"/>
            <a:t>Fecha</a:t>
          </a:r>
          <a:r>
            <a:rPr lang="en-US" sz="1900" b="1" kern="1200"/>
            <a:t> del </a:t>
          </a:r>
          <a:r>
            <a:rPr lang="en-US" sz="1900" b="1" kern="1200" err="1"/>
            <a:t>analisis</a:t>
          </a:r>
          <a:r>
            <a:rPr lang="en-US" sz="1900" b="1" kern="1200"/>
            <a:t>.</a:t>
          </a:r>
          <a:endParaRPr lang="en-US" sz="1900" kern="1200"/>
        </a:p>
      </dsp:txBody>
      <dsp:txXfrm>
        <a:off x="7411643" y="159118"/>
        <a:ext cx="3233964" cy="1371985"/>
      </dsp:txXfrm>
    </dsp:sp>
    <dsp:sp modelId="{F77A8B1F-F269-4FF2-A2D8-C28602C5F519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F60F23-AF66-4115-887F-35A99CBB34E3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EFB2D-B1CB-4196-925E-12E5D9DAF939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-OS </a:t>
          </a:r>
          <a:r>
            <a:rPr lang="en-US" sz="1900" b="1" kern="1200" err="1"/>
            <a:t>utilizado</a:t>
          </a:r>
          <a:r>
            <a:rPr lang="en-US" sz="1900" b="1" kern="1200"/>
            <a:t> para </a:t>
          </a:r>
          <a:r>
            <a:rPr lang="en-US" sz="1900" b="1" kern="1200" err="1"/>
            <a:t>el</a:t>
          </a:r>
          <a:r>
            <a:rPr lang="en-US" sz="1900" b="1" kern="1200"/>
            <a:t> </a:t>
          </a:r>
          <a:r>
            <a:rPr lang="en-US" sz="1900" b="1" kern="1200" err="1"/>
            <a:t>analisis</a:t>
          </a:r>
          <a:r>
            <a:rPr lang="en-US" sz="1900" b="1" kern="1200"/>
            <a:t>.</a:t>
          </a:r>
          <a:endParaRPr lang="en-US" sz="1900" kern="1200"/>
        </a:p>
      </dsp:txBody>
      <dsp:txXfrm>
        <a:off x="1948202" y="2158301"/>
        <a:ext cx="3233964" cy="1371985"/>
      </dsp:txXfrm>
    </dsp:sp>
    <dsp:sp modelId="{DFE93409-841B-4B7D-BC57-016C53777F3A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41BBB-BB2B-432A-B4C6-8398503A2244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953DC-59D9-4CFA-84E4-7B6AA7508AE3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-Tipo de malware </a:t>
          </a:r>
          <a:r>
            <a:rPr lang="en-US" sz="1900" b="1" kern="1200" err="1"/>
            <a:t>identificado</a:t>
          </a:r>
          <a:r>
            <a:rPr lang="en-US" sz="1900" b="1" kern="1200"/>
            <a:t>.</a:t>
          </a:r>
          <a:endParaRPr lang="en-US" sz="1900" kern="1200"/>
        </a:p>
      </dsp:txBody>
      <dsp:txXfrm>
        <a:off x="7411643" y="2158301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>
                <a:highlight>
                  <a:srgbClr val="FFFF00"/>
                </a:highlight>
              </a:rPr>
              <a:t>Proyecto Final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highlight>
                  <a:srgbClr val="FFFF00"/>
                </a:highlight>
              </a:rPr>
              <a:t>Ciberseguridad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E0CCB-79F3-DD95-B2DA-4C79B87D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                                    </a:t>
            </a:r>
            <a:r>
              <a:rPr lang="en-US" sz="4000" b="1" dirty="0">
                <a:solidFill>
                  <a:srgbClr val="FFFFFF"/>
                </a:solidFill>
              </a:rPr>
              <a:t>SITUACION: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FE519-5AA6-E716-DA20-AEF9306CF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En la noche del 20 al 23 de septiembre del 2021, LexCorp fue victima de un Malware (ataque) que afecto a sus servidores (Windows Server 2003/2012) y equipos de usuario (Windows 7/Windows 10) de toda la infraestructura.</a:t>
            </a:r>
            <a:endParaRPr lang="en-US" sz="1400" b="1"/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Tras el ataque, el area de soporte tecnico de LexCorp tomo las siguientes medidas:</a:t>
            </a:r>
            <a:endParaRPr lang="en-US" sz="1400" b="1"/>
          </a:p>
          <a:p>
            <a:r>
              <a:rPr lang="en-US" sz="1400" b="1">
                <a:ea typeface="+mn-lt"/>
                <a:cs typeface="+mn-lt"/>
              </a:rPr>
              <a:t>1- Se almaceno una muestra del Malware.</a:t>
            </a:r>
            <a:endParaRPr lang="en-US" sz="1400" b="1"/>
          </a:p>
          <a:p>
            <a:r>
              <a:rPr lang="en-US" sz="1400" b="1">
                <a:ea typeface="+mn-lt"/>
                <a:cs typeface="+mn-lt"/>
              </a:rPr>
              <a:t>2- El mismo dia, 23 de septiembre apagaron todas las maquinas.</a:t>
            </a:r>
            <a:endParaRPr lang="en-US" sz="1400" b="1"/>
          </a:p>
          <a:p>
            <a:r>
              <a:rPr lang="en-US" sz="1400" b="1">
                <a:ea typeface="+mn-lt"/>
                <a:cs typeface="+mn-lt"/>
              </a:rPr>
              <a:t>3- En las maquinas, en las que se disponia de una copia de seguridad (back-up) fueron restauradas al 19 de septiembre (ultimo backup disponible) y solo un 10% contaba con el ultimo backup.</a:t>
            </a:r>
            <a:endParaRPr lang="en-US" sz="1400" b="1"/>
          </a:p>
          <a:p>
            <a:r>
              <a:rPr lang="en-US" sz="1400" b="1">
                <a:ea typeface="+mn-lt"/>
                <a:cs typeface="+mn-lt"/>
              </a:rPr>
              <a:t>4- El 24 de septiembre, LexCorp solicita los servicios de un analista de ciberseguridad para analizar una muestra y emitir recomendaciones para su infraestructura de red y mejorar su postura de ciberseguridad</a:t>
            </a:r>
          </a:p>
          <a:p>
            <a:r>
              <a:rPr lang="en-US" sz="1400" b="1">
                <a:ea typeface="+mn-lt"/>
                <a:cs typeface="+mn-lt"/>
              </a:rPr>
              <a:t>5- LexCorp solicita la elaboracion de un informe de analisis del ataque, que tipo de malware es y el vector de ataque para aportar mas detalles sobre el incidente y el nivel de compromiso derivado del mismo.</a:t>
            </a:r>
            <a:endParaRPr lang="en-US" sz="1400" b="1"/>
          </a:p>
          <a:p>
            <a:endParaRPr lang="en-US" sz="1400"/>
          </a:p>
          <a:p>
            <a:pPr marL="0" indent="0">
              <a:buNone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4144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A0100-8A1A-D2A1-2373-C7273B2A7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55" y="252827"/>
            <a:ext cx="4866839" cy="3324867"/>
          </a:xfrm>
        </p:spPr>
        <p:txBody>
          <a:bodyPr anchor="b">
            <a:normAutofit/>
          </a:bodyPr>
          <a:lstStyle/>
          <a:p>
            <a:pPr algn="r"/>
            <a:r>
              <a:rPr lang="en-US" sz="1900" dirty="0">
                <a:solidFill>
                  <a:srgbClr val="FFFFFF"/>
                </a:solidFill>
              </a:rPr>
              <a:t>                                                </a:t>
            </a:r>
            <a:r>
              <a:rPr lang="en-US" sz="3200" b="1" dirty="0">
                <a:solidFill>
                  <a:srgbClr val="FFFFFF"/>
                </a:solidFill>
              </a:rPr>
              <a:t>OBJETIVOS: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3481-2DE9-760A-D27F-CD1706303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Con la finalidad de efectuar un informe detallado sobre el ataque, se definen los siguientes pasos a tener en cuenta:</a:t>
            </a:r>
            <a:endParaRPr lang="en-US" sz="2000" b="1"/>
          </a:p>
          <a:p>
            <a:r>
              <a:rPr lang="en-US" sz="2000" b="1">
                <a:ea typeface="+mn-lt"/>
                <a:cs typeface="+mn-lt"/>
              </a:rPr>
              <a:t>A- Identificar que acciones llevadas por el área de soporte técnico son correctas/incorrectas y justificarlas.</a:t>
            </a:r>
            <a:endParaRPr lang="en-US" sz="2000" b="1"/>
          </a:p>
          <a:p>
            <a:r>
              <a:rPr lang="en-US" sz="2000" b="1">
                <a:ea typeface="+mn-lt"/>
                <a:cs typeface="+mn-lt"/>
              </a:rPr>
              <a:t>B- Nombre de la muestra, fecha del analisis, OS utilizado para el analisis y tipo de malware identificado. </a:t>
            </a:r>
            <a:endParaRPr lang="en-US" sz="2000" b="1"/>
          </a:p>
          <a:p>
            <a:r>
              <a:rPr lang="en-US" sz="2000" b="1">
                <a:ea typeface="+mn-lt"/>
                <a:cs typeface="+mn-lt"/>
              </a:rPr>
              <a:t>C- Diseñar una propuesta de solucion para evitar estos tipos de incidentes y mejorar la postura de ciberseguridad de LexCorp.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085108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C75EE-360F-970C-95BC-63290F144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sz="2100" dirty="0">
                <a:solidFill>
                  <a:srgbClr val="FFFFFF"/>
                </a:solidFill>
              </a:rPr>
              <a:t>               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b="1" dirty="0">
                <a:solidFill>
                  <a:srgbClr val="FFFFFF"/>
                </a:solidFill>
              </a:rPr>
              <a:t>OBJETIVO A: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A6E5A-C240-F967-A4AF-E652745D3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901739" cy="393528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+mn-lt"/>
              <a:cs typeface="+mn-lt"/>
            </a:endParaRPr>
          </a:p>
          <a:p>
            <a:r>
              <a:rPr lang="en-US" b="1" dirty="0" err="1">
                <a:ea typeface="+mn-lt"/>
                <a:cs typeface="+mn-lt"/>
              </a:rPr>
              <a:t>Identificar</a:t>
            </a:r>
            <a:r>
              <a:rPr lang="en-US" b="1" dirty="0">
                <a:ea typeface="+mn-lt"/>
                <a:cs typeface="+mn-lt"/>
              </a:rPr>
              <a:t> que </a:t>
            </a:r>
            <a:r>
              <a:rPr lang="en-US" b="1" dirty="0" err="1">
                <a:ea typeface="+mn-lt"/>
                <a:cs typeface="+mn-lt"/>
              </a:rPr>
              <a:t>acciones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dirty="0" err="1">
                <a:ea typeface="+mn-lt"/>
                <a:cs typeface="+mn-lt"/>
              </a:rPr>
              <a:t>llevadas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dirty="0" err="1">
                <a:ea typeface="+mn-lt"/>
                <a:cs typeface="+mn-lt"/>
              </a:rPr>
              <a:t>por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dirty="0" err="1">
                <a:ea typeface="+mn-lt"/>
                <a:cs typeface="+mn-lt"/>
              </a:rPr>
              <a:t>el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dirty="0" err="1">
                <a:ea typeface="+mn-lt"/>
                <a:cs typeface="+mn-lt"/>
              </a:rPr>
              <a:t>soporte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dirty="0" err="1">
                <a:ea typeface="+mn-lt"/>
                <a:cs typeface="+mn-lt"/>
              </a:rPr>
              <a:t>tecnico</a:t>
            </a:r>
            <a:r>
              <a:rPr lang="en-US" b="1" dirty="0">
                <a:ea typeface="+mn-lt"/>
                <a:cs typeface="+mn-lt"/>
              </a:rPr>
              <a:t> de </a:t>
            </a:r>
            <a:r>
              <a:rPr lang="en-US" b="1" dirty="0" err="1">
                <a:ea typeface="+mn-lt"/>
                <a:cs typeface="+mn-lt"/>
              </a:rPr>
              <a:t>LexCorpson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dirty="0" err="1">
                <a:ea typeface="+mn-lt"/>
                <a:cs typeface="+mn-lt"/>
              </a:rPr>
              <a:t>correctas</a:t>
            </a:r>
            <a:r>
              <a:rPr lang="en-US" b="1" dirty="0">
                <a:ea typeface="+mn-lt"/>
                <a:cs typeface="+mn-lt"/>
              </a:rPr>
              <a:t> e </a:t>
            </a:r>
            <a:r>
              <a:rPr lang="en-US" b="1" dirty="0" err="1">
                <a:ea typeface="+mn-lt"/>
                <a:cs typeface="+mn-lt"/>
              </a:rPr>
              <a:t>incorrectas</a:t>
            </a:r>
            <a:r>
              <a:rPr lang="en-US" b="1" dirty="0">
                <a:ea typeface="+mn-lt"/>
                <a:cs typeface="+mn-lt"/>
              </a:rPr>
              <a:t> y </a:t>
            </a:r>
            <a:r>
              <a:rPr lang="en-US" b="1" dirty="0" err="1">
                <a:ea typeface="+mn-lt"/>
                <a:cs typeface="+mn-lt"/>
              </a:rPr>
              <a:t>justificarlas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3949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08F1-6855-5A96-60CE-D10B54EA5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4" y="365125"/>
            <a:ext cx="10442531" cy="511371"/>
          </a:xfrm>
        </p:spPr>
        <p:txBody>
          <a:bodyPr/>
          <a:lstStyle/>
          <a:p>
            <a:r>
              <a:rPr lang="en-US" sz="2400" dirty="0"/>
              <a:t>                                  </a:t>
            </a:r>
            <a:r>
              <a:rPr lang="en-US" sz="2400" b="1" dirty="0">
                <a:solidFill>
                  <a:srgbClr val="FF0000"/>
                </a:solidFill>
              </a:rPr>
              <a:t> Acciones </a:t>
            </a:r>
            <a:r>
              <a:rPr lang="en-US" sz="2400" b="1" dirty="0" err="1">
                <a:solidFill>
                  <a:srgbClr val="FF0000"/>
                </a:solidFill>
              </a:rPr>
              <a:t>realizadas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por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soporte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tecnico</a:t>
            </a:r>
            <a:r>
              <a:rPr lang="en-US" sz="2400" b="1" dirty="0">
                <a:solidFill>
                  <a:srgbClr val="FF0000"/>
                </a:solidFill>
              </a:rPr>
              <a:t> de </a:t>
            </a:r>
            <a:r>
              <a:rPr lang="en-US" sz="2400" b="1" dirty="0" err="1">
                <a:solidFill>
                  <a:srgbClr val="FF0000"/>
                </a:solidFill>
              </a:rPr>
              <a:t>LexCorp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B1B63BC-B775-5694-DFA5-0B848C7B62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0787798"/>
              </p:ext>
            </p:extLst>
          </p:nvPr>
        </p:nvGraphicFramePr>
        <p:xfrm>
          <a:off x="814191" y="929013"/>
          <a:ext cx="10288039" cy="588921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37507">
                  <a:extLst>
                    <a:ext uri="{9D8B030D-6E8A-4147-A177-3AD203B41FA5}">
                      <a16:colId xmlns:a16="http://schemas.microsoft.com/office/drawing/2014/main" val="2254858393"/>
                    </a:ext>
                  </a:extLst>
                </a:gridCol>
                <a:gridCol w="3425266">
                  <a:extLst>
                    <a:ext uri="{9D8B030D-6E8A-4147-A177-3AD203B41FA5}">
                      <a16:colId xmlns:a16="http://schemas.microsoft.com/office/drawing/2014/main" val="1820152573"/>
                    </a:ext>
                  </a:extLst>
                </a:gridCol>
                <a:gridCol w="3425266">
                  <a:extLst>
                    <a:ext uri="{9D8B030D-6E8A-4147-A177-3AD203B41FA5}">
                      <a16:colId xmlns:a16="http://schemas.microsoft.com/office/drawing/2014/main" val="2584324781"/>
                    </a:ext>
                  </a:extLst>
                </a:gridCol>
              </a:tblGrid>
              <a:tr h="37884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                             Accion </a:t>
                      </a:r>
                      <a:endParaRPr lang="en-US" dirty="0" err="1"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       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Procedimiento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correcto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/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incorrecto</a:t>
                      </a:r>
                      <a:endParaRPr lang="en-US" dirty="0" err="1"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                          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Justificacion</a:t>
                      </a:r>
                      <a:endParaRPr lang="en-US" dirty="0" err="1"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206578"/>
                  </a:ext>
                </a:extLst>
              </a:tr>
              <a:tr h="798650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Guardaron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una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muestra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del malware. </a:t>
                      </a:r>
                      <a:endParaRPr lang="en-US" b="1"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✅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Correcto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el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procedimiento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permitirá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almacenar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una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muestra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del Malware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puede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ser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analizada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para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descubrir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que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tipo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Malware se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utilizo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para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realizar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el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ataque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b="1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149295"/>
                  </a:ext>
                </a:extLst>
              </a:tr>
              <a:tr h="1105829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Apagaron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todas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las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maquinas</a:t>
                      </a:r>
                      <a:endParaRPr lang="en-US" b="1"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❌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Incorrecto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,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si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la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maquina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se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encuentra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infectada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por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el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malware, al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encender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la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maquina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esta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continuaria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infectada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, se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correria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el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riesgo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que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otras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maquinas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se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infecten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y,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ademas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, se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podria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llegar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a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peder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informacion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importante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que se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pueda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utilizar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para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algun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err="1">
                          <a:solidFill>
                            <a:srgbClr val="000000"/>
                          </a:solidFill>
                          <a:effectLst/>
                        </a:rPr>
                        <a:t>analisis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b="1" dirty="0"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277498"/>
                  </a:ext>
                </a:extLst>
              </a:tr>
              <a:tr h="1566588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noProof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noProof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En las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maquinas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en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las que se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disponia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una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copia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seguridad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(back-up)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fueron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restauradas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al 19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septiembre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(ultimo backup disponible) y solo un 10%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contaba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con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ultimo backup.</a:t>
                      </a:r>
                      <a:endParaRPr lang="en-US" b="1"/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Ambas </a:t>
                      </a:r>
                      <a:r>
                        <a:rPr lang="en-US" sz="14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opciones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son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Validas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.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Esta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medida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se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considera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correcta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incorrecta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.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Correcta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por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que la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empresa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utilizo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una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copia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seguridad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para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restaurar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sistema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al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dia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anterior del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ataque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y solo un 10% de las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maquinas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contaba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con un backup. Tambien se la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considera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incorrecta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por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que solo un 10%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contaba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con un backup, lo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cual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, se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recomienda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utilizar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un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servidor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parte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que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contenga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un backup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completo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todo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sistema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y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dicho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backup se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realice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al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finalizar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la jornada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cada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dia. </a:t>
                      </a:r>
                      <a:endParaRPr lang="en-US"/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67572"/>
                  </a:ext>
                </a:extLst>
              </a:tr>
              <a:tr h="1085348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El 24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septiembre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LexCorp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solicita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los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servicios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un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analista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ciberseguridad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para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analizar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una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muestra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y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emitir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recomendaciones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para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su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infraestructura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red y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mejorar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su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postura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ciberseguridad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✅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Al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sufrir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un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ataque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cibernetico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se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corre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riesgo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perder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mucha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informacion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y al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solicitar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un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analista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ciberseguridad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para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analizar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una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muestra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, se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puede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saber que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tipo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de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ataque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se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sufrio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y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asi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poder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mejorar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la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infraestructura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red.</a:t>
                      </a:r>
                      <a:endParaRPr lang="en-US" b="1" noProof="0" dirty="0"/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079029"/>
                  </a:ext>
                </a:extLst>
              </a:tr>
              <a:tr h="952236"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La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empresa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LexCorp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solicita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la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elaboracion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un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informe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analisis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del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ataque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, que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tipo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malware es y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vector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ataque</a:t>
                      </a:r>
                      <a:endParaRPr lang="en-US" b="1" dirty="0" err="1"/>
                    </a:p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para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aportar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mas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detalles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sobre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incidente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y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nivel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compromiso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derivado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del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mismo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b="1" noProof="0" dirty="0"/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✅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Solicitar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un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informe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analisis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del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ataque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, se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puede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saber que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tipo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de Malware se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utilizo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, que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daños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provoco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brindar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una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solucion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y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asi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evitar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futuros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1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ataques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b="1" dirty="0"/>
                    </a:p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299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71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4C455-D2D2-C406-95D2-691D457B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ea typeface="+mj-lt"/>
                <a:cs typeface="+mj-lt"/>
              </a:rPr>
              <a:t>                               </a:t>
            </a:r>
            <a:br>
              <a:rPr lang="en-US" sz="4000" dirty="0">
                <a:ea typeface="+mj-lt"/>
                <a:cs typeface="+mj-lt"/>
              </a:rPr>
            </a:br>
            <a:r>
              <a:rPr lang="en-US" sz="4000" dirty="0">
                <a:solidFill>
                  <a:srgbClr val="FFFFFF"/>
                </a:solidFill>
                <a:ea typeface="+mj-lt"/>
                <a:cs typeface="+mj-lt"/>
              </a:rPr>
              <a:t>                                   </a:t>
            </a:r>
            <a:r>
              <a:rPr lang="en-US" sz="4000" b="1" dirty="0">
                <a:solidFill>
                  <a:srgbClr val="FFFFFF"/>
                </a:solidFill>
                <a:ea typeface="+mj-lt"/>
                <a:cs typeface="+mj-lt"/>
              </a:rPr>
              <a:t>OBJETIVO B:</a:t>
            </a:r>
            <a:endParaRPr lang="en-US" sz="4000" dirty="0">
              <a:solidFill>
                <a:srgbClr val="FFFFFF"/>
              </a:solidFill>
              <a:ea typeface="+mj-lt"/>
              <a:cs typeface="+mj-lt"/>
            </a:endParaRPr>
          </a:p>
          <a:p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E6A0F3-A7B7-69BD-008B-9E67285D1C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328301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9939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19199-5F0E-D1C3-ADE4-379964CAF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                             </a:t>
            </a:r>
            <a:br>
              <a:rPr lang="en-US" sz="3400" dirty="0"/>
            </a:br>
            <a:r>
              <a:rPr lang="en-US" sz="3400" dirty="0">
                <a:solidFill>
                  <a:srgbClr val="FFFFFF"/>
                </a:solidFill>
              </a:rPr>
              <a:t> </a:t>
            </a:r>
            <a:r>
              <a:rPr lang="en-US" sz="3400" dirty="0">
                <a:solidFill>
                  <a:srgbClr val="FFFFFF"/>
                </a:solidFill>
                <a:ea typeface="+mj-lt"/>
                <a:cs typeface="+mj-lt"/>
              </a:rPr>
              <a:t>                             INFORME ANALISIS DE</a:t>
            </a:r>
            <a:br>
              <a:rPr lang="en-US" sz="3400" dirty="0">
                <a:ea typeface="+mj-lt"/>
                <a:cs typeface="+mj-lt"/>
              </a:rPr>
            </a:br>
            <a:r>
              <a:rPr lang="en-US" sz="3400" dirty="0">
                <a:solidFill>
                  <a:srgbClr val="FFFFFF"/>
                </a:solidFill>
                <a:ea typeface="+mj-lt"/>
                <a:cs typeface="+mj-lt"/>
              </a:rPr>
              <a:t>                           LA MUESTRA CON ANY.RUN</a:t>
            </a:r>
          </a:p>
          <a:p>
            <a:endParaRPr lang="en-US" sz="3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7352A4-1D67-B40C-1C0D-C027D0AF7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975385"/>
              </p:ext>
            </p:extLst>
          </p:nvPr>
        </p:nvGraphicFramePr>
        <p:xfrm>
          <a:off x="644056" y="2674989"/>
          <a:ext cx="10927829" cy="3571385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4121240">
                  <a:extLst>
                    <a:ext uri="{9D8B030D-6E8A-4147-A177-3AD203B41FA5}">
                      <a16:colId xmlns:a16="http://schemas.microsoft.com/office/drawing/2014/main" val="737283711"/>
                    </a:ext>
                  </a:extLst>
                </a:gridCol>
                <a:gridCol w="6806589">
                  <a:extLst>
                    <a:ext uri="{9D8B030D-6E8A-4147-A177-3AD203B41FA5}">
                      <a16:colId xmlns:a16="http://schemas.microsoft.com/office/drawing/2014/main" val="1090725816"/>
                    </a:ext>
                  </a:extLst>
                </a:gridCol>
              </a:tblGrid>
              <a:tr h="80481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/>
                        </a:rPr>
                        <a:t>Nombre de la </a:t>
                      </a:r>
                      <a:r>
                        <a:rPr lang="en-US" sz="1600" b="1" i="0" u="none" strike="noStrike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/>
                        </a:rPr>
                        <a:t>muestra</a:t>
                      </a:r>
                      <a:endParaRPr lang="en-US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77259" marR="196175" marT="196175" marB="196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-__----_-.exe</a:t>
                      </a:r>
                      <a:endParaRPr lang="en-US" sz="1600"/>
                    </a:p>
                  </a:txBody>
                  <a:tcPr marL="377259" marR="196175" marT="196175" marB="196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349399"/>
                  </a:ext>
                </a:extLst>
              </a:tr>
              <a:tr h="80481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elvetica Neue"/>
                        </a:rPr>
                        <a:t>Fecha</a:t>
                      </a:r>
                      <a:r>
                        <a:rPr 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elvetica Neue"/>
                        </a:rPr>
                        <a:t> del </a:t>
                      </a:r>
                      <a:r>
                        <a:rPr lang="en-US" sz="1600" b="1" i="0" u="none" strike="noStrike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elvetica Neue"/>
                        </a:rPr>
                        <a:t>analisis</a:t>
                      </a:r>
                      <a:endParaRPr lang="en-US" sz="16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elvetica Neue"/>
                      </a:endParaRPr>
                    </a:p>
                  </a:txBody>
                  <a:tcPr marL="377259" marR="196175" marT="196175" marB="196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11/03/2024, 15:47:47</a:t>
                      </a:r>
                      <a:endParaRPr lang="en-US" dirty="0"/>
                    </a:p>
                  </a:txBody>
                  <a:tcPr marL="377259" marR="196175" marT="196175" marB="196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317007"/>
                  </a:ext>
                </a:extLst>
              </a:tr>
              <a:tr h="804819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elvetica Neue"/>
                        </a:rPr>
                        <a:t>OS </a:t>
                      </a:r>
                      <a:r>
                        <a:rPr lang="en-US" sz="1600" b="1" i="0" u="none" strike="noStrike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elvetica Neue"/>
                        </a:rPr>
                        <a:t>utilizado</a:t>
                      </a:r>
                      <a:r>
                        <a:rPr 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elvetica Neue"/>
                        </a:rPr>
                        <a:t> para </a:t>
                      </a:r>
                      <a:r>
                        <a:rPr lang="en-US" sz="1600" b="1" i="0" u="none" strike="noStrike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elvetica Neue"/>
                        </a:rPr>
                        <a:t>el</a:t>
                      </a:r>
                      <a:r>
                        <a:rPr 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elvetica Neue"/>
                        </a:rPr>
                        <a:t> </a:t>
                      </a:r>
                      <a:r>
                        <a:rPr lang="en-US" sz="1600" b="1" i="0" u="none" strike="noStrike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elvetica Neue"/>
                        </a:rPr>
                        <a:t>analisis</a:t>
                      </a:r>
                      <a:endParaRPr lang="en-US" sz="16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elvetica Neue"/>
                      </a:endParaRPr>
                    </a:p>
                  </a:txBody>
                  <a:tcPr marL="377259" marR="196175" marT="196175" marB="196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Windows 7 Professional Service Pack 1 (build: 7601, 32 bit)</a:t>
                      </a:r>
                      <a:endParaRPr lang="en-US" sz="1600"/>
                    </a:p>
                  </a:txBody>
                  <a:tcPr marL="377259" marR="196175" marT="196175" marB="196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221130"/>
                  </a:ext>
                </a:extLst>
              </a:tr>
              <a:tr h="1156928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elvetica Neue"/>
                        </a:rPr>
                        <a:t>Tipo de Malware </a:t>
                      </a:r>
                      <a:r>
                        <a:rPr lang="en-US" sz="1600" b="1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Helvetica Neue"/>
                        </a:rPr>
                        <a:t>identificado</a:t>
                      </a:r>
                      <a:endParaRPr lang="en-US" sz="16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Helvetica Neue"/>
                      </a:endParaRPr>
                    </a:p>
                  </a:txBody>
                  <a:tcPr marL="377259" marR="196175" marT="196175" marB="196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Ransomeware.exe</a:t>
                      </a:r>
                      <a:endParaRPr lang="en-US" dirty="0"/>
                    </a:p>
                  </a:txBody>
                  <a:tcPr marL="377259" marR="196175" marT="196175" marB="196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711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38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6BA34-1858-5881-EEE8-EBB84DAB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COMPORTAMIENTO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7CB953-AB6B-5367-FA92-794AEBEE6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275" y="1461063"/>
            <a:ext cx="10939396" cy="3368573"/>
          </a:xfrm>
        </p:spPr>
      </p:pic>
    </p:spTree>
    <p:extLst>
      <p:ext uri="{BB962C8B-B14F-4D97-AF65-F5344CB8AC3E}">
        <p14:creationId xmlns:p14="http://schemas.microsoft.com/office/powerpoint/2010/main" val="51541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95B151-8517-8A9D-6402-E5955B289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400"/>
              <a:t>INFORMACION ESTATICA ENCONTRADA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22AE-112D-A36D-0BD9-6689A256D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/>
              <a:t>                                                                                                                                     </a:t>
            </a:r>
          </a:p>
          <a:p>
            <a:pPr marL="0" indent="0">
              <a:buNone/>
            </a:pPr>
            <a:endParaRPr lang="en-US" sz="2200"/>
          </a:p>
          <a:p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D2F42-C8E8-C400-B895-C4FBF5DCD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-3909"/>
            <a:ext cx="5897378" cy="686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5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BB5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9838CB-4205-5228-C04F-21D14F57F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CAPTURA</a:t>
            </a:r>
            <a:r>
              <a:rPr lang="en-US" sz="2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LA SIMULACION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C892EA-6B1B-1A13-8FCB-B7A1B0E58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378669"/>
            <a:ext cx="7188199" cy="409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07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1977A-6889-8172-9348-D70220991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DIAGRAMA COMPORTAMIENTO DE PROCESOS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58CC28-F6AE-EC9A-93F3-854EC96D6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59470"/>
            <a:ext cx="10905066" cy="422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510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09BCD-78B5-DF82-CB5B-B0537751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REGISTRO DE ACTIVIDADES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5A6148-506E-6080-49D5-BE4538F9DF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2737" y="643466"/>
            <a:ext cx="648722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12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45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2EB89-E84B-00E4-761C-86CFEC46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Archivos descartados 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897BDD-DA14-0F2C-7F32-1572915E7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5011" y="686299"/>
            <a:ext cx="8054581" cy="509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03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459B1-6E9D-8B96-7863-5679FDC54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 REQUESTS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7F9BF6-1AA7-CDE0-06DE-3769A989C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407756"/>
            <a:ext cx="10744200" cy="384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15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50684-22D6-FE95-C63E-D252231837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32" r="12157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6C3559-FCCF-DFCB-8D14-FD1211410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8021" y="93728"/>
            <a:ext cx="4740764" cy="2171309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ea typeface="+mj-lt"/>
                <a:cs typeface="+mj-lt"/>
              </a:rPr>
              <a:t>                                                                                            </a:t>
            </a:r>
            <a:r>
              <a:rPr lang="en-US" sz="2800" dirty="0" err="1">
                <a:ea typeface="+mj-lt"/>
                <a:cs typeface="+mj-lt"/>
              </a:rPr>
              <a:t>Objetivo</a:t>
            </a:r>
            <a:r>
              <a:rPr lang="en-US" sz="2800" dirty="0">
                <a:ea typeface="+mj-lt"/>
                <a:cs typeface="+mj-lt"/>
              </a:rPr>
              <a:t> C 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 err="1">
                <a:ea typeface="+mj-lt"/>
                <a:cs typeface="+mj-lt"/>
              </a:rPr>
              <a:t>Propuesta</a:t>
            </a:r>
            <a:r>
              <a:rPr lang="en-US" sz="2800" dirty="0">
                <a:ea typeface="+mj-lt"/>
                <a:cs typeface="+mj-lt"/>
              </a:rPr>
              <a:t> de </a:t>
            </a:r>
            <a:r>
              <a:rPr lang="en-US" sz="2800" dirty="0" err="1">
                <a:ea typeface="+mj-lt"/>
                <a:cs typeface="+mj-lt"/>
              </a:rPr>
              <a:t>solucion</a:t>
            </a:r>
            <a:r>
              <a:rPr lang="en-US" sz="2800" dirty="0">
                <a:ea typeface="+mj-lt"/>
                <a:cs typeface="+mj-lt"/>
              </a:rPr>
              <a:t> y </a:t>
            </a:r>
            <a:r>
              <a:rPr lang="en-US" sz="2800" dirty="0" err="1">
                <a:ea typeface="+mj-lt"/>
                <a:cs typeface="+mj-lt"/>
              </a:rPr>
              <a:t>mejora</a:t>
            </a:r>
            <a:r>
              <a:rPr lang="en-US" sz="2800" dirty="0">
                <a:ea typeface="+mj-lt"/>
                <a:cs typeface="+mj-lt"/>
              </a:rPr>
              <a:t>:</a:t>
            </a:r>
            <a:endParaRPr lang="en-US" sz="2800"/>
          </a:p>
          <a:p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85094-A927-C396-7BAC-11829414D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267188"/>
            <a:ext cx="3822189" cy="40350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8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800" b="1" dirty="0">
                <a:ea typeface="+mn-lt"/>
                <a:cs typeface="+mn-lt"/>
              </a:rPr>
              <a:t>En base lo </a:t>
            </a:r>
            <a:r>
              <a:rPr lang="en-US" sz="800" b="1" dirty="0" err="1">
                <a:ea typeface="+mn-lt"/>
                <a:cs typeface="+mn-lt"/>
              </a:rPr>
              <a:t>sucedido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en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LexCorp</a:t>
            </a:r>
            <a:r>
              <a:rPr lang="en-US" sz="800" b="1" dirty="0">
                <a:ea typeface="+mn-lt"/>
                <a:cs typeface="+mn-lt"/>
              </a:rPr>
              <a:t> se </a:t>
            </a:r>
            <a:r>
              <a:rPr lang="en-US" sz="800" b="1" dirty="0" err="1">
                <a:ea typeface="+mn-lt"/>
                <a:cs typeface="+mn-lt"/>
              </a:rPr>
              <a:t>sostiene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como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hipotesis</a:t>
            </a:r>
            <a:r>
              <a:rPr lang="en-US" sz="800" b="1" dirty="0">
                <a:ea typeface="+mn-lt"/>
                <a:cs typeface="+mn-lt"/>
              </a:rPr>
              <a:t> que un </a:t>
            </a:r>
            <a:r>
              <a:rPr lang="en-US" sz="800" b="1" dirty="0" err="1">
                <a:ea typeface="+mn-lt"/>
                <a:cs typeface="+mn-lt"/>
              </a:rPr>
              <a:t>usuario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abrio</a:t>
            </a:r>
            <a:r>
              <a:rPr lang="en-US" sz="800" b="1" dirty="0">
                <a:ea typeface="+mn-lt"/>
                <a:cs typeface="+mn-lt"/>
              </a:rPr>
              <a:t> </a:t>
            </a:r>
            <a:r>
              <a:rPr lang="en-US" sz="800" b="1" dirty="0" err="1">
                <a:ea typeface="+mn-lt"/>
                <a:cs typeface="+mn-lt"/>
              </a:rPr>
              <a:t>el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correo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electronico</a:t>
            </a:r>
            <a:r>
              <a:rPr lang="en-US" sz="800" b="1" dirty="0">
                <a:ea typeface="+mn-lt"/>
                <a:cs typeface="+mn-lt"/>
              </a:rPr>
              <a:t>, </a:t>
            </a:r>
            <a:r>
              <a:rPr lang="en-US" sz="800" b="1" dirty="0" err="1">
                <a:ea typeface="+mn-lt"/>
                <a:cs typeface="+mn-lt"/>
              </a:rPr>
              <a:t>hizo</a:t>
            </a:r>
            <a:r>
              <a:rPr lang="en-US" sz="800" b="1" dirty="0">
                <a:ea typeface="+mn-lt"/>
                <a:cs typeface="+mn-lt"/>
              </a:rPr>
              <a:t> click </a:t>
            </a:r>
            <a:r>
              <a:rPr lang="en-US" sz="800" b="1" dirty="0" err="1">
                <a:ea typeface="+mn-lt"/>
                <a:cs typeface="+mn-lt"/>
              </a:rPr>
              <a:t>en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el</a:t>
            </a:r>
            <a:r>
              <a:rPr lang="en-US" sz="800" b="1" dirty="0">
                <a:ea typeface="+mn-lt"/>
                <a:cs typeface="+mn-lt"/>
              </a:rPr>
              <a:t> email </a:t>
            </a:r>
            <a:r>
              <a:rPr lang="en-US" sz="800" b="1" dirty="0" err="1">
                <a:ea typeface="+mn-lt"/>
                <a:cs typeface="+mn-lt"/>
              </a:rPr>
              <a:t>recibido</a:t>
            </a:r>
            <a:r>
              <a:rPr lang="en-US" sz="800" b="1" dirty="0">
                <a:ea typeface="+mn-lt"/>
                <a:cs typeface="+mn-lt"/>
              </a:rPr>
              <a:t> con un link "</a:t>
            </a:r>
            <a:r>
              <a:rPr lang="en-US" sz="800" b="1" dirty="0" err="1">
                <a:ea typeface="+mn-lt"/>
                <a:cs typeface="+mn-lt"/>
              </a:rPr>
              <a:t>engañoso</a:t>
            </a:r>
            <a:r>
              <a:rPr lang="en-US" sz="800" b="1" dirty="0">
                <a:ea typeface="+mn-lt"/>
                <a:cs typeface="+mn-lt"/>
              </a:rPr>
              <a:t>" que </a:t>
            </a:r>
            <a:r>
              <a:rPr lang="en-US" sz="800" b="1" dirty="0" err="1">
                <a:ea typeface="+mn-lt"/>
                <a:cs typeface="+mn-lt"/>
              </a:rPr>
              <a:t>descargo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el</a:t>
            </a:r>
            <a:r>
              <a:rPr lang="en-US" sz="800" b="1" dirty="0">
                <a:ea typeface="+mn-lt"/>
                <a:cs typeface="+mn-lt"/>
              </a:rPr>
              <a:t> malware (</a:t>
            </a:r>
            <a:r>
              <a:rPr lang="en-US" sz="800" b="1" dirty="0" err="1">
                <a:ea typeface="+mn-lt"/>
                <a:cs typeface="+mn-lt"/>
              </a:rPr>
              <a:t>en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este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caso</a:t>
            </a:r>
            <a:r>
              <a:rPr lang="en-US" sz="800" b="1" dirty="0">
                <a:ea typeface="+mn-lt"/>
                <a:cs typeface="+mn-lt"/>
              </a:rPr>
              <a:t> un ransomware), sin </a:t>
            </a:r>
            <a:r>
              <a:rPr lang="en-US" sz="800" b="1" dirty="0" err="1">
                <a:ea typeface="+mn-lt"/>
                <a:cs typeface="+mn-lt"/>
              </a:rPr>
              <a:t>el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consentimiento</a:t>
            </a:r>
            <a:r>
              <a:rPr lang="en-US" sz="800" b="1" dirty="0">
                <a:ea typeface="+mn-lt"/>
                <a:cs typeface="+mn-lt"/>
              </a:rPr>
              <a:t> del </a:t>
            </a:r>
            <a:r>
              <a:rPr lang="en-US" sz="800" b="1" dirty="0" err="1">
                <a:ea typeface="+mn-lt"/>
                <a:cs typeface="+mn-lt"/>
              </a:rPr>
              <a:t>usuario</a:t>
            </a:r>
            <a:r>
              <a:rPr lang="en-US" sz="800" b="1" dirty="0">
                <a:ea typeface="+mn-lt"/>
                <a:cs typeface="+mn-lt"/>
              </a:rPr>
              <a:t> se </a:t>
            </a:r>
            <a:r>
              <a:rPr lang="en-US" sz="800" b="1" dirty="0" err="1">
                <a:ea typeface="+mn-lt"/>
                <a:cs typeface="+mn-lt"/>
              </a:rPr>
              <a:t>descargo</a:t>
            </a:r>
            <a:r>
              <a:rPr lang="en-US" sz="800" b="1" dirty="0">
                <a:ea typeface="+mn-lt"/>
                <a:cs typeface="+mn-lt"/>
              </a:rPr>
              <a:t> </a:t>
            </a:r>
            <a:r>
              <a:rPr lang="en-US" sz="800" b="1" dirty="0" err="1">
                <a:ea typeface="+mn-lt"/>
                <a:cs typeface="+mn-lt"/>
              </a:rPr>
              <a:t>el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archivo</a:t>
            </a:r>
            <a:r>
              <a:rPr lang="en-US" sz="800" b="1" dirty="0">
                <a:ea typeface="+mn-lt"/>
                <a:cs typeface="+mn-lt"/>
              </a:rPr>
              <a:t> </a:t>
            </a:r>
            <a:r>
              <a:rPr lang="en-US" sz="800" b="1" dirty="0" err="1">
                <a:ea typeface="+mn-lt"/>
                <a:cs typeface="+mn-lt"/>
              </a:rPr>
              <a:t>malisioso</a:t>
            </a:r>
            <a:r>
              <a:rPr lang="en-US" sz="800" b="1" dirty="0">
                <a:ea typeface="+mn-lt"/>
                <a:cs typeface="+mn-lt"/>
              </a:rPr>
              <a:t> y </a:t>
            </a:r>
            <a:r>
              <a:rPr lang="en-US" sz="800" b="1" dirty="0" err="1">
                <a:ea typeface="+mn-lt"/>
                <a:cs typeface="+mn-lt"/>
              </a:rPr>
              <a:t>desencadeno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una</a:t>
            </a:r>
            <a:r>
              <a:rPr lang="en-US" sz="800" b="1" dirty="0">
                <a:ea typeface="+mn-lt"/>
                <a:cs typeface="+mn-lt"/>
              </a:rPr>
              <a:t> </a:t>
            </a:r>
            <a:r>
              <a:rPr lang="en-US" sz="800" b="1" dirty="0" err="1">
                <a:ea typeface="+mn-lt"/>
                <a:cs typeface="+mn-lt"/>
              </a:rPr>
              <a:t>infeccion</a:t>
            </a:r>
            <a:r>
              <a:rPr lang="en-US" sz="800" b="1" dirty="0">
                <a:ea typeface="+mn-lt"/>
                <a:cs typeface="+mn-lt"/>
              </a:rPr>
              <a:t> a </a:t>
            </a:r>
            <a:r>
              <a:rPr lang="en-US" sz="800" b="1" dirty="0" err="1">
                <a:ea typeface="+mn-lt"/>
                <a:cs typeface="+mn-lt"/>
              </a:rPr>
              <a:t>toda</a:t>
            </a:r>
            <a:r>
              <a:rPr lang="en-US" sz="800" b="1" dirty="0">
                <a:ea typeface="+mn-lt"/>
                <a:cs typeface="+mn-lt"/>
              </a:rPr>
              <a:t> la red.</a:t>
            </a:r>
            <a:endParaRPr lang="en-US" sz="800" b="1" dirty="0"/>
          </a:p>
          <a:p>
            <a:pPr marL="0" indent="0">
              <a:buNone/>
            </a:pPr>
            <a:endParaRPr lang="en-US" sz="800" b="1"/>
          </a:p>
          <a:p>
            <a:pPr marL="0" indent="0">
              <a:buNone/>
            </a:pPr>
            <a:r>
              <a:rPr lang="en-US" sz="800" b="1" dirty="0"/>
              <a:t>Segun lo </a:t>
            </a:r>
            <a:r>
              <a:rPr lang="en-US" sz="800" b="1" dirty="0" err="1"/>
              <a:t>sucedido</a:t>
            </a:r>
            <a:r>
              <a:rPr lang="en-US" sz="800" b="1" dirty="0"/>
              <a:t>, se </a:t>
            </a:r>
            <a:r>
              <a:rPr lang="en-US" sz="800" b="1" dirty="0" err="1"/>
              <a:t>recomienda</a:t>
            </a:r>
            <a:r>
              <a:rPr lang="en-US" sz="800" b="1" dirty="0"/>
              <a:t>:</a:t>
            </a:r>
          </a:p>
          <a:p>
            <a:pPr marL="0" indent="0">
              <a:buNone/>
            </a:pPr>
            <a:r>
              <a:rPr lang="en-US" sz="800" b="1" dirty="0"/>
              <a:t>A- Capacitar a </a:t>
            </a:r>
            <a:r>
              <a:rPr lang="en-US" sz="800" b="1" dirty="0" err="1"/>
              <a:t>todo</a:t>
            </a:r>
            <a:r>
              <a:rPr lang="en-US" sz="800" b="1" dirty="0"/>
              <a:t> </a:t>
            </a:r>
            <a:r>
              <a:rPr lang="en-US" sz="800" b="1" dirty="0" err="1"/>
              <a:t>el</a:t>
            </a:r>
            <a:r>
              <a:rPr lang="en-US" sz="800" b="1" dirty="0"/>
              <a:t> personal </a:t>
            </a:r>
            <a:r>
              <a:rPr lang="en-US" sz="800" b="1" dirty="0" err="1"/>
              <a:t>sobre</a:t>
            </a:r>
            <a:r>
              <a:rPr lang="en-US" sz="800" b="1" dirty="0"/>
              <a:t> </a:t>
            </a:r>
            <a:r>
              <a:rPr lang="en-US" sz="800" b="1" dirty="0" err="1"/>
              <a:t>Phising</a:t>
            </a:r>
            <a:r>
              <a:rPr lang="en-US" sz="800" b="1" dirty="0"/>
              <a:t>.</a:t>
            </a:r>
          </a:p>
          <a:p>
            <a:pPr marL="0" indent="0">
              <a:buNone/>
            </a:pPr>
            <a:r>
              <a:rPr lang="en-US" sz="800" b="1" dirty="0"/>
              <a:t>B- </a:t>
            </a:r>
            <a:r>
              <a:rPr lang="en-US" sz="800" b="1" dirty="0" err="1"/>
              <a:t>Mantener</a:t>
            </a:r>
            <a:r>
              <a:rPr lang="en-US" sz="800" b="1" dirty="0"/>
              <a:t> Firewall y Anti-Malware </a:t>
            </a:r>
            <a:r>
              <a:rPr lang="en-US" sz="800" b="1" dirty="0" err="1"/>
              <a:t>actualizados</a:t>
            </a:r>
            <a:r>
              <a:rPr lang="en-US" sz="800" b="1" dirty="0"/>
              <a:t> a la ultima version.</a:t>
            </a:r>
          </a:p>
          <a:p>
            <a:pPr marL="0" indent="0">
              <a:buNone/>
            </a:pPr>
            <a:r>
              <a:rPr lang="en-US" sz="800" b="1" dirty="0"/>
              <a:t>C- </a:t>
            </a:r>
            <a:r>
              <a:rPr lang="en-US" sz="800" b="1" dirty="0" err="1"/>
              <a:t>Implementar</a:t>
            </a:r>
            <a:r>
              <a:rPr lang="en-US" sz="800" b="1" dirty="0"/>
              <a:t> </a:t>
            </a:r>
            <a:r>
              <a:rPr lang="en-US" sz="800" b="1" dirty="0" err="1"/>
              <a:t>elementos</a:t>
            </a:r>
            <a:r>
              <a:rPr lang="en-US" sz="800" b="1" dirty="0"/>
              <a:t> de </a:t>
            </a:r>
            <a:r>
              <a:rPr lang="en-US" sz="800" b="1" dirty="0" err="1"/>
              <a:t>seguridad</a:t>
            </a:r>
            <a:r>
              <a:rPr lang="en-US" sz="800" b="1" dirty="0"/>
              <a:t> perimetral </a:t>
            </a:r>
            <a:r>
              <a:rPr lang="en-US" sz="800" b="1" dirty="0" err="1"/>
              <a:t>como</a:t>
            </a:r>
            <a:r>
              <a:rPr lang="en-US" sz="800" b="1" dirty="0"/>
              <a:t> </a:t>
            </a:r>
            <a:r>
              <a:rPr lang="en-US" sz="800" b="1" dirty="0" err="1"/>
              <a:t>por</a:t>
            </a:r>
            <a:r>
              <a:rPr lang="en-US" sz="800" b="1" dirty="0"/>
              <a:t> </a:t>
            </a:r>
            <a:r>
              <a:rPr lang="en-US" sz="800" b="1" dirty="0" err="1"/>
              <a:t>ejemplo</a:t>
            </a:r>
            <a:r>
              <a:rPr lang="en-US" sz="800" b="1" dirty="0"/>
              <a:t>:</a:t>
            </a:r>
          </a:p>
          <a:p>
            <a:pPr marL="0" indent="0">
              <a:buNone/>
            </a:pPr>
            <a:r>
              <a:rPr lang="en-US" sz="800" b="1" dirty="0"/>
              <a:t>     1-Sistema de </a:t>
            </a:r>
            <a:r>
              <a:rPr lang="en-US" sz="800" b="1" dirty="0" err="1"/>
              <a:t>deteccion</a:t>
            </a:r>
            <a:r>
              <a:rPr lang="en-US" sz="800" b="1" dirty="0"/>
              <a:t> de </a:t>
            </a:r>
            <a:r>
              <a:rPr lang="en-US" sz="800" b="1" dirty="0" err="1"/>
              <a:t>intrusos</a:t>
            </a:r>
            <a:r>
              <a:rPr lang="en-US" sz="800" b="1" dirty="0"/>
              <a:t> (IDS).</a:t>
            </a:r>
          </a:p>
          <a:p>
            <a:pPr marL="0" indent="0">
              <a:buNone/>
            </a:pPr>
            <a:r>
              <a:rPr lang="en-US" sz="800" b="1" dirty="0"/>
              <a:t>     2-Sistema de </a:t>
            </a:r>
            <a:r>
              <a:rPr lang="en-US" sz="800" b="1" dirty="0" err="1"/>
              <a:t>prevencion</a:t>
            </a:r>
            <a:r>
              <a:rPr lang="en-US" sz="800" b="1" dirty="0"/>
              <a:t> de </a:t>
            </a:r>
            <a:r>
              <a:rPr lang="en-US" sz="800" b="1" dirty="0" err="1"/>
              <a:t>intrusos</a:t>
            </a:r>
            <a:r>
              <a:rPr lang="en-US" sz="800" b="1" dirty="0"/>
              <a:t> (IPS).</a:t>
            </a:r>
          </a:p>
          <a:p>
            <a:pPr marL="0" indent="0">
              <a:buNone/>
            </a:pPr>
            <a:r>
              <a:rPr lang="en-US" sz="800" b="1" dirty="0"/>
              <a:t>     3- Controles de </a:t>
            </a:r>
            <a:r>
              <a:rPr lang="en-US" sz="800" b="1" dirty="0" err="1"/>
              <a:t>acceso</a:t>
            </a:r>
            <a:r>
              <a:rPr lang="en-US" sz="800" b="1" dirty="0"/>
              <a:t> e </a:t>
            </a:r>
            <a:r>
              <a:rPr lang="en-US" sz="800" b="1" dirty="0" err="1"/>
              <a:t>identidad</a:t>
            </a:r>
            <a:r>
              <a:rPr lang="en-US" sz="800" b="1" dirty="0"/>
              <a:t>.</a:t>
            </a:r>
          </a:p>
          <a:p>
            <a:pPr marL="0" indent="0">
              <a:buNone/>
            </a:pPr>
            <a:r>
              <a:rPr lang="en-US" sz="800" b="1" dirty="0" err="1"/>
              <a:t>Ademas</a:t>
            </a:r>
            <a:r>
              <a:rPr lang="en-US" sz="800" b="1" dirty="0"/>
              <a:t>, se </a:t>
            </a:r>
            <a:r>
              <a:rPr lang="en-US" sz="800" b="1" dirty="0" err="1"/>
              <a:t>recomienda</a:t>
            </a:r>
            <a:r>
              <a:rPr lang="en-US" sz="800" b="1" dirty="0"/>
              <a:t> a </a:t>
            </a:r>
            <a:r>
              <a:rPr lang="en-US" sz="800" b="1" dirty="0" err="1"/>
              <a:t>LexCorp</a:t>
            </a:r>
            <a:r>
              <a:rPr lang="en-US" sz="800" b="1" dirty="0"/>
              <a:t> </a:t>
            </a:r>
            <a:r>
              <a:rPr lang="en-US" sz="800" b="1" dirty="0" err="1"/>
              <a:t>contar</a:t>
            </a:r>
            <a:r>
              <a:rPr lang="en-US" sz="800" b="1" dirty="0"/>
              <a:t> con un </a:t>
            </a:r>
            <a:r>
              <a:rPr lang="en-US" sz="800" b="1" dirty="0" err="1"/>
              <a:t>servidor</a:t>
            </a:r>
            <a:r>
              <a:rPr lang="en-US" sz="800" b="1" dirty="0"/>
              <a:t> a </a:t>
            </a:r>
            <a:r>
              <a:rPr lang="en-US" sz="800" b="1" dirty="0" err="1"/>
              <a:t>parte</a:t>
            </a:r>
            <a:r>
              <a:rPr lang="en-US" sz="800" b="1" dirty="0"/>
              <a:t> de la red, para que </a:t>
            </a:r>
            <a:r>
              <a:rPr lang="en-US" sz="800" b="1" dirty="0" err="1"/>
              <a:t>dicho</a:t>
            </a:r>
            <a:r>
              <a:rPr lang="en-US" sz="800" b="1" dirty="0"/>
              <a:t> </a:t>
            </a:r>
            <a:r>
              <a:rPr lang="en-US" sz="800" b="1" dirty="0" err="1"/>
              <a:t>servidor</a:t>
            </a:r>
            <a:r>
              <a:rPr lang="en-US" sz="800" b="1" dirty="0"/>
              <a:t> </a:t>
            </a:r>
            <a:r>
              <a:rPr lang="en-US" sz="800" b="1" dirty="0" err="1"/>
              <a:t>almacene</a:t>
            </a:r>
            <a:r>
              <a:rPr lang="en-US" sz="800" b="1" dirty="0"/>
              <a:t> un backup </a:t>
            </a:r>
            <a:r>
              <a:rPr lang="en-US" sz="800" b="1" dirty="0" err="1"/>
              <a:t>completo</a:t>
            </a:r>
            <a:r>
              <a:rPr lang="en-US" sz="800" b="1" dirty="0"/>
              <a:t> </a:t>
            </a:r>
            <a:r>
              <a:rPr lang="en-US" sz="800" b="1" dirty="0" err="1"/>
              <a:t>diario</a:t>
            </a:r>
            <a:r>
              <a:rPr lang="en-US" sz="800" b="1" dirty="0"/>
              <a:t> y </a:t>
            </a:r>
            <a:r>
              <a:rPr lang="en-US" sz="800" b="1" dirty="0" err="1"/>
              <a:t>asi</a:t>
            </a:r>
            <a:r>
              <a:rPr lang="en-US" sz="800" b="1" dirty="0"/>
              <a:t> </a:t>
            </a:r>
            <a:r>
              <a:rPr lang="en-US" sz="800" b="1" dirty="0" err="1"/>
              <a:t>evitar</a:t>
            </a:r>
            <a:r>
              <a:rPr lang="en-US" sz="800" b="1" dirty="0"/>
              <a:t> </a:t>
            </a:r>
            <a:r>
              <a:rPr lang="en-US" sz="800" b="1" dirty="0" err="1"/>
              <a:t>grandes</a:t>
            </a:r>
            <a:r>
              <a:rPr lang="en-US" sz="800" b="1" dirty="0"/>
              <a:t> </a:t>
            </a:r>
            <a:r>
              <a:rPr lang="en-US" sz="800" b="1" dirty="0" err="1"/>
              <a:t>perdidas</a:t>
            </a:r>
            <a:r>
              <a:rPr lang="en-US" sz="800" b="1" dirty="0"/>
              <a:t> de </a:t>
            </a:r>
            <a:r>
              <a:rPr lang="en-US" sz="800" b="1" dirty="0" err="1"/>
              <a:t>informacion</a:t>
            </a:r>
            <a:r>
              <a:rPr lang="en-US" sz="800" b="1" dirty="0"/>
              <a:t> </a:t>
            </a:r>
            <a:r>
              <a:rPr lang="en-US" sz="800" b="1" dirty="0" err="1"/>
              <a:t>como</a:t>
            </a:r>
            <a:r>
              <a:rPr lang="en-US" sz="800" b="1" dirty="0"/>
              <a:t> lo </a:t>
            </a:r>
            <a:r>
              <a:rPr lang="en-US" sz="800" b="1" dirty="0" err="1"/>
              <a:t>sucedido</a:t>
            </a:r>
            <a:r>
              <a:rPr lang="en-US" sz="800" b="1" dirty="0"/>
              <a:t>.</a:t>
            </a:r>
          </a:p>
          <a:p>
            <a:pPr marL="0" indent="0">
              <a:buNone/>
            </a:pPr>
            <a:endParaRPr lang="en-US" sz="800"/>
          </a:p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4855957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Tema de Office</vt:lpstr>
      <vt:lpstr>Proyecto Final</vt:lpstr>
      <vt:lpstr>                                    SITUACION:</vt:lpstr>
      <vt:lpstr>                                                OBJETIVOS:</vt:lpstr>
      <vt:lpstr>                OBJETIVO A:</vt:lpstr>
      <vt:lpstr>                                   Acciones realizadas por soporte tecnico de LexCorp.</vt:lpstr>
      <vt:lpstr>                                                                   OBJETIVO B: </vt:lpstr>
      <vt:lpstr>                                                            INFORME ANALISIS DE                            LA MUESTRA CON ANY.RUN </vt:lpstr>
      <vt:lpstr>COMPORTAMIENTO</vt:lpstr>
      <vt:lpstr>INFORMACION ESTATICA ENCONTRADA</vt:lpstr>
      <vt:lpstr>CAPTURA DE LA SIMULACION</vt:lpstr>
      <vt:lpstr>DIAGRAMA COMPORTAMIENTO DE PROCESOS</vt:lpstr>
      <vt:lpstr>REGISTRO DE ACTIVIDADES</vt:lpstr>
      <vt:lpstr>Archivos descartados </vt:lpstr>
      <vt:lpstr>HTTP REQUESTS</vt:lpstr>
      <vt:lpstr>                                                                                            Objetivo C   Propuesta de solucion y mejora: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492</cp:revision>
  <dcterms:created xsi:type="dcterms:W3CDTF">2024-05-14T20:55:09Z</dcterms:created>
  <dcterms:modified xsi:type="dcterms:W3CDTF">2026-03-08T23:25:31Z</dcterms:modified>
</cp:coreProperties>
</file>